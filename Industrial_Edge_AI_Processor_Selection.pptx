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C355A1-6D1E-4759-9FE7-4A3EADE0BE1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FE98A0-4C5E-40B7-8705-965E6F0AA98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27B3E0-4A88-4DFE-8607-D383BE7F888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D910C0-701C-4BB4-8390-EED4D59CCD4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D80FB0-B3FD-40A2-A467-55B0358DAA6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96E65F-1529-411B-B3CE-A000FADC165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7ADF0B-56F2-45B1-85FD-60D3558680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6F2C23-619C-40F8-8D06-933392D998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00BF54-C7B5-43AA-9261-E6B80DA150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EE31E2-1298-4FB2-8056-97DE5027244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4302D3-AED6-4E35-8C2B-6AF9D8FD890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5CEA93-EB3E-473B-82F0-E18F9F242D2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781497D-D2D0-4AA3-8DAE-E9EDCFFA4E55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the title text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" name="TextBox 2"/>
          <p:cNvSpPr/>
          <p:nvPr/>
        </p:nvSpPr>
        <p:spPr>
          <a:xfrm>
            <a:off x="731520" y="2011680"/>
            <a:ext cx="10698120" cy="14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Industrial Edge AI Processor Selection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43" name="TextBox 3"/>
          <p:cNvSpPr/>
          <p:nvPr/>
        </p:nvSpPr>
        <p:spPr>
          <a:xfrm>
            <a:off x="1502640" y="3657600"/>
            <a:ext cx="915588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007b8a"/>
                </a:solidFill>
                <a:latin typeface="Calibri"/>
              </a:rPr>
              <a:t>Heavy Deep Learning Inference &amp; Real-Time Video Conferencing</a:t>
            </a:r>
            <a:br>
              <a:rPr sz="2200"/>
            </a:br>
            <a:r>
              <a:rPr b="0" lang="en-US" sz="2200" spc="-1" strike="noStrike">
                <a:solidFill>
                  <a:srgbClr val="007b8a"/>
                </a:solidFill>
                <a:latin typeface="Calibri"/>
              </a:rPr>
              <a:t>SoM / Carrier Board Evaluation — August 2026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44" name="Rectangle 4"/>
          <p:cNvSpPr/>
          <p:nvPr/>
        </p:nvSpPr>
        <p:spPr>
          <a:xfrm>
            <a:off x="731520" y="4754880"/>
            <a:ext cx="2285640" cy="45360"/>
          </a:xfrm>
          <a:prstGeom prst="rect">
            <a:avLst/>
          </a:prstGeom>
          <a:solidFill>
            <a:srgbClr val="007b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5" name="TextBox 5"/>
          <p:cNvSpPr/>
          <p:nvPr/>
        </p:nvSpPr>
        <p:spPr>
          <a:xfrm>
            <a:off x="815040" y="5029200"/>
            <a:ext cx="3489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aaaaaa"/>
                </a:solidFill>
                <a:latin typeface="Calibri"/>
              </a:rPr>
              <a:t>August 2026  |  Revision 1.0  |  Confidential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" name="Rectangle 2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" name="TextBox 3"/>
          <p:cNvSpPr/>
          <p:nvPr/>
        </p:nvSpPr>
        <p:spPr>
          <a:xfrm>
            <a:off x="3873960" y="137160"/>
            <a:ext cx="41389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Executive Summary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49" name="TextBox 4"/>
          <p:cNvSpPr/>
          <p:nvPr/>
        </p:nvSpPr>
        <p:spPr>
          <a:xfrm>
            <a:off x="457200" y="1005840"/>
            <a:ext cx="11246760" cy="46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PRIMARY RECOMMENDATION: Texas Instruments TDA4VM / AM68A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    →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8 TOPS AI accelerator, 4K video codec, ASIL-D safety, –40 °C to +105 °C junction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    →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Dual-domain: Linux (A72) + FreeRTOS (R5F) for deterministic real-time control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    →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Integrated ISP @ 480 MP/s, hardware H.264/H.265 encode/decode, TSN Ethernet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SECONDARY RECOMMENDATION: Rockchip RK3588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    →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6 TOPS NPU, 8K encode/decode, dual 2.5 GbE, industrial modules –40 °C to +85 °C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    → </a:t>
            </a: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Best price/performance for multi-channel AI video gateways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TERTIARY: NXP i.MX 95 — 10–15 year supply, TSN, 2 TOPS NPU, mature Yocto/FreeRTOS BSP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CAVEAT OPTIONS (Temp limited): Qualcomm QCS6490 (12 TOPS, –30 °C min) | NVIDIA Jetson Orin NX (100 TOPS, –25 °C min)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0" name="TextBox 5"/>
          <p:cNvSpPr/>
          <p:nvPr/>
        </p:nvSpPr>
        <p:spPr>
          <a:xfrm>
            <a:off x="1078200" y="6217920"/>
            <a:ext cx="100047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100" spc="-1" strike="noStrike">
                <a:solidFill>
                  <a:srgbClr val="e85d04"/>
                </a:solidFill>
                <a:latin typeface="Calibri"/>
              </a:rPr>
              <a:t>All platforms evaluated against: –40 °C min temp, hardware AI ≥2 TOPS, H.264/H.265 codec, mature C/C++ toolchain, RTOS/Linux support.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" name="Rectangle 2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" name="TextBox 3"/>
          <p:cNvSpPr/>
          <p:nvPr/>
        </p:nvSpPr>
        <p:spPr>
          <a:xfrm>
            <a:off x="2430000" y="137160"/>
            <a:ext cx="70268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Selection Criteria &amp; Requirements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54" name="TextBox 4"/>
          <p:cNvSpPr/>
          <p:nvPr/>
        </p:nvSpPr>
        <p:spPr>
          <a:xfrm>
            <a:off x="457200" y="1005840"/>
            <a:ext cx="11246760" cy="329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TEMPERATURE: Industrial grade –40 °C to +85 °C ambient (junction –40 °C to +105 °C preferred)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AI COMPUTE: Dedicated NPU/DSP/GPU ≥ 2 TOPS INT8 for on-device deep learning inference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VIDEO CONFERENCING: Hardware-accelerated H.264/H.265 simultaneous encode + decode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VISION: Integrated ISP with HDR, multi-camera MIPI-CSI support, ≥ 375 MP/s throughput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TOOLCHAIN: Mature C/C++ SDK, Yocto/Buildroot BSP, FreeRTOS/Zephyr bare-metal support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FRAMEWORKS: TensorFlow Lite, ONNX Runtime, or vendor-optimised edge-AI runtime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CONNECTIVITY: Gigabit Ethernet (TSN preferred), USB 3.x, PCIe for expansion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SAFETY: ECC memory, secure boot, functional-safety certification (ASIL / SIL) where applicable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600" spc="-1" strike="noStrike">
                <a:solidFill>
                  <a:srgbClr val="1a1a1a"/>
                </a:solidFill>
                <a:latin typeface="Calibri"/>
              </a:rPr>
              <a:t>LONGEVITY: 10–15 year supply commitment from vendor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" name="TextBox 2"/>
          <p:cNvSpPr/>
          <p:nvPr/>
        </p:nvSpPr>
        <p:spPr>
          <a:xfrm>
            <a:off x="3051720" y="2560320"/>
            <a:ext cx="60577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Platform Deep Dives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57" name="Rectangle 3"/>
          <p:cNvSpPr/>
          <p:nvPr/>
        </p:nvSpPr>
        <p:spPr>
          <a:xfrm>
            <a:off x="731520" y="3749040"/>
            <a:ext cx="2285640" cy="45360"/>
          </a:xfrm>
          <a:prstGeom prst="rect">
            <a:avLst/>
          </a:prstGeom>
          <a:solidFill>
            <a:srgbClr val="007b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" name="Rectangle 2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" name="TextBox 3"/>
          <p:cNvSpPr/>
          <p:nvPr/>
        </p:nvSpPr>
        <p:spPr>
          <a:xfrm>
            <a:off x="-1132920" y="137160"/>
            <a:ext cx="141530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01  |  Texas Instruments TDA4VM / AM68A  —  PRIMARY RECOMMENDATION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61" name="TextBox 4"/>
          <p:cNvSpPr/>
          <p:nvPr/>
        </p:nvSpPr>
        <p:spPr>
          <a:xfrm>
            <a:off x="365760" y="960120"/>
            <a:ext cx="5486040" cy="343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7b8a"/>
                </a:solidFill>
                <a:latin typeface="Calibri"/>
              </a:rPr>
              <a:t>KEY SPECIFICATIONS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CPU: 2× Cortex-A72 @ 2.0 GHz + 6× Cortex-R5F @ 1.0 GHz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AI Accelerator: MMA 8 TOPS (INT8) + C7x DSP 80 GFLOPS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GPU: PowerVR Rogue 8XE GE8430 @ 750 MHz (96 GFLOPS)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RAM: Up to 8 GB LPDDR4-4266 (inline ECC)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Video Codec: Decode: 1× 4K@60 / 4× 1080p60 | Encode: 1× 1080p60 / 3× 1080p30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ISP: 480 MP/s, HDR, dewarp, lens shading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Camera: 2× MIPI CSI-2 4L RX + 1× CSI-2 4L TX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Ethernet: 8-port GbE switch (2.5 Gb SGMII), TSN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Safety: Targeted ASIL-D / SIL-3, AEC-Q100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OS: Linux (Yocto), QNX, FreeRTOS, SafeRTOS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TDP: 5–10 W (passive cooling viable)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Supply: Guaranteed to 2036+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2" name="TextBox 5"/>
          <p:cNvSpPr/>
          <p:nvPr/>
        </p:nvSpPr>
        <p:spPr>
          <a:xfrm>
            <a:off x="6035040" y="960120"/>
            <a:ext cx="5668920" cy="55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7b8a"/>
                </a:solidFill>
                <a:latin typeface="Calibri"/>
              </a:rPr>
              <a:t>AI &amp; IMAGE PROCESSING CAPABILITIES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Heavy DL inference: YOLOv5s @ ~45 fps, ResNet-50 @ ~35 fps (INT8)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Real-time conferencing: Hardware H.264 encode offloads CPU completely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GStreamer plugins provided by TI for accelerated AV pipeline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6× R5F cores enable deterministic audio/control loops parallel to Linux AI pipeline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Lockstep R5F pair for safety-critical monitoring without hypervisor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Dual-OS: Linux handles vision/AI while FreeRTOS manages real-time I/O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7b8a"/>
                </a:solidFill>
                <a:latin typeface="Calibri"/>
              </a:rPr>
              <a:t>COMMERCIAL &amp; MECHANICAL DATA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SoM Available: Yes — PHYTEC (57×54 mm), Congatec SMARC (82×50 mm), Bit Mapper (80×80 mm)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Carrier Board Available: Yes — Evaluation kits from PHYTEC, Congatec, Bit Mapper; custom carriers available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SoM Dimensions: 57 × 54 mm (PHYTEC) | 82 × 50 mm (SMARC) | 80 × 80 mm (Bit Mapper)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Carrier Board Lead Time: Eval kit: 2–4 weeks | Custom carrier design: 10–14 weeks | Volume production: 16–20 weeks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Temp Rating: –40 °C to +105 °C (Junction) — EXCEEDS REQUIREMENT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4" name="Rectangle 2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5" name="TextBox 3"/>
          <p:cNvSpPr/>
          <p:nvPr/>
        </p:nvSpPr>
        <p:spPr>
          <a:xfrm>
            <a:off x="342000" y="137160"/>
            <a:ext cx="112028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02  |  Rockchip RK3588  —  SECONDARY RECOMMENDATION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66" name="TextBox 4"/>
          <p:cNvSpPr/>
          <p:nvPr/>
        </p:nvSpPr>
        <p:spPr>
          <a:xfrm>
            <a:off x="365760" y="960120"/>
            <a:ext cx="5486040" cy="363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7b8a"/>
                </a:solidFill>
                <a:latin typeface="Calibri"/>
              </a:rPr>
              <a:t>KEY SPECIFICATIONS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CPU: 4× Cortex-A76 @ 2.4 GHz + 4× Cortex-A55 @ 1.8 GHz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AI Accelerator: Triple-core NPU 6 TOPS (INT8/INT4/FP16 hybrid)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GPU: Arm Mali-G610 MP4 (OpenCL 2.2, Vulkan 1.1)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RAM: Up to 32 GB LPDDR4x/LPDDR5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Video Codec: Decode: 8K@60 H.265, 8K@30 H.264 | Encode: 8K@30 H.265/H.264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ISP: 48 MP ISP 3.0, HDR, 3D NR, dehaze, fisheye correction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Camera: 2× 4-lane MIPI CSI (up to 4 concurrent cameras)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Ethernet: Dual 2.5 GbE + Wi-Fi 6 / BT 5.0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Safety: Industrial module validation (no formal ASIL)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OS: Linux (Yocto/Buildroot), Android 12/13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TDP: 8–12 W (large heatsink for sustained 8K)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Supply: 2033+ (industrial module vendors)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7" name="TextBox 5"/>
          <p:cNvSpPr/>
          <p:nvPr/>
        </p:nvSpPr>
        <p:spPr>
          <a:xfrm>
            <a:off x="6035040" y="960120"/>
            <a:ext cx="5668920" cy="55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7b8a"/>
                </a:solidFill>
                <a:latin typeface="Calibri"/>
              </a:rPr>
              <a:t>AI &amp; IMAGE PROCESSING CAPABILITIES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Highest codec bandwidth in class: simultaneous 8K encode + 8K decode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Multi-channel AI gateway: run per-camera analytics on 4+ streams concurrently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RKNN Toolkit 2.0 supports ONNX, TFLite, PyTorch model conversion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2D Pixel Processing Accelerator for image pre-processing before NPU inference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Ideal for smart NVR, AI security gateway, video doorbell arrays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Industrial modules from Forlinx, Qiyang, Geniatech validated –40 °C to +85 °C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7b8a"/>
                </a:solidFill>
                <a:latin typeface="Calibri"/>
              </a:rPr>
              <a:t>COMMERCIAL &amp; MECHANICAL DATA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SoM Available: Yes — Forlinx FET3588-C (68×50 mm), Qiyang, Geniatech, many vendors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Carrier Board Available: Yes — Forlinx carrier (190×130 mm), Qiyang carrier, custom designs available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SoM Dimensions: 68 × 50 mm (Forlinx SoM) | 82 × 50 mm (SMARC variants)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Carrier Board Lead Time: Eval kit: 1–2 weeks | Custom carrier design: 8–12 weeks | Volume: 12–16 weeks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Temp Rating: –40 °C to +85 °C (Industrial modules) — MEETS REQUIREMENT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9" name="Rectangle 2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0" name="TextBox 3"/>
          <p:cNvSpPr/>
          <p:nvPr/>
        </p:nvSpPr>
        <p:spPr>
          <a:xfrm>
            <a:off x="1059120" y="137160"/>
            <a:ext cx="97686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03  |  NXP i.MX 95  —  TERTIARY RECOMMENDATION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71" name="TextBox 4"/>
          <p:cNvSpPr/>
          <p:nvPr/>
        </p:nvSpPr>
        <p:spPr>
          <a:xfrm>
            <a:off x="365760" y="960120"/>
            <a:ext cx="5486040" cy="363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7b8a"/>
                </a:solidFill>
                <a:latin typeface="Calibri"/>
              </a:rPr>
              <a:t>KEY SPECIFICATIONS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CPU: 6× Cortex-A55 @ 2.0 GHz + M7 @ 800 MHz + M33 @ 333 MHz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AI Accelerator: eIQ Neutron NPU 2 TOPS (INT8)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GPU: Arm Mali-G310 (Vulkan 1.3, OpenGL ES 3.2)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RAM: Up to 16 GB LPDDR5 (inline ECC)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Video Codec: 4K@60 H.265/H.264 encode/decode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ISP: Dual ISP, multi-camera input support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Camera: MIPI CSI-2 interfaces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Ethernet: Dual GbE (1× TSN), 10 GbE option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Safety: EdgeLock secure enclave, inline DRAM ECC, functional-safety support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OS: Linux (Yocto/RT Edge), FreeRTOS, Zephyr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TDP: 5–8 W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Supply: Guaranteed to 2038+ (NXP longevity programme)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2" name="TextBox 5"/>
          <p:cNvSpPr/>
          <p:nvPr/>
        </p:nvSpPr>
        <p:spPr>
          <a:xfrm>
            <a:off x="6035040" y="960120"/>
            <a:ext cx="5668920" cy="55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7b8a"/>
                </a:solidFill>
                <a:latin typeface="Calibri"/>
              </a:rPr>
              <a:t>AI &amp; IMAGE PROCESSING CAPABILITIES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Best-in-class supply longevity: 10–15 year commitment from NXP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TSN-enabled Ethernet for deterministic AVB and Industry 4.0 control traffic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eIQ Toolkit: TensorFlow Lite, ONNX Runtime, PyTorch, DeepViewRT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Cortex-M7 + M33 provide hard real-time control alongside Linux AI stack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Sufficient for medium-complexity models: YOLOv5s, MobileNet-SSD, gesture recognition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Preempt-RT Linux patches available for low-latency conferencing pipelines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7b8a"/>
                </a:solidFill>
                <a:latin typeface="Calibri"/>
              </a:rPr>
              <a:t>COMMERCIAL &amp; MECHANICAL DATA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SoM Available: Yes — Variscite DART-MX95 (55×30 mm), CompuLab UCM-iMX95 (28×40 mm)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Carrier Board Available: Yes — DART-MX95 eval kit, UCM eval kit ($645), custom carrier design services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SoM Dimensions: 55 × 30 mm (DART) | 28 × 40 mm (UCM)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Carrier Board Lead Time: Eval kit: 2–4 weeks | Custom carrier design: 8–12 weeks | Volume: 14–18 weeks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Temp Rating: –40 °C to +85 °C (Industrial SKUs) — MEETS REQUIREMENT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4" name="Rectangle 2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5" name="TextBox 3"/>
          <p:cNvSpPr/>
          <p:nvPr/>
        </p:nvSpPr>
        <p:spPr>
          <a:xfrm>
            <a:off x="569160" y="137160"/>
            <a:ext cx="107485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04  |  NXP i.MX 8M Plus  —  PROVEN INDUSTRIAL OPTION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76" name="TextBox 4"/>
          <p:cNvSpPr/>
          <p:nvPr/>
        </p:nvSpPr>
        <p:spPr>
          <a:xfrm>
            <a:off x="365760" y="960120"/>
            <a:ext cx="5486040" cy="323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7b8a"/>
                </a:solidFill>
                <a:latin typeface="Calibri"/>
              </a:rPr>
              <a:t>KEY SPECIFICATIONS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CPU: 4× Cortex-A53 @ 1.8 GHz + 1× Cortex-M7 @ 800 MHz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AI Accelerator: Dedicated NPU 2.3 TOPS (INT8)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GPU: GC7000UL (16 GFLOPS, OpenGL ES 3.1, Vulkan)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RAM: Up to 8 GB LPDDR4 (inline ECC)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Video Codec: 1080p60 H.265/H.264/VP9 encode/decode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ISP: Dual ISP, 375 MP/s, 12 MP, HDR, dewarp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Camera: 2× 4-lane MIPI CSI-2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Ethernet: Dual GbE (1× TSN), 2× CAN-FD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Safety: IEC 61508 / ISO 26262 certified, DRAM inline ECC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OS: Linux (Yocto), Android, FreeRTOS, QNX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TDP: 3–5 W (lowest in class)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Supply: Guaranteed to 2036+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7" name="TextBox 5"/>
          <p:cNvSpPr/>
          <p:nvPr/>
        </p:nvSpPr>
        <p:spPr>
          <a:xfrm>
            <a:off x="6035040" y="960120"/>
            <a:ext cx="5668920" cy="535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7b8a"/>
                </a:solidFill>
                <a:latin typeface="Calibri"/>
              </a:rPr>
              <a:t>AI &amp; IMAGE PROCESSING CAPABILITIES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Proven, shipping platform with extensive safety certification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Lowest TDP and BOM cost — ideal for cost-sensitive smart cameras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Dual ISP enables simultaneous visible + IR camera processing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1080p60 codec adequate for standard-definition conferencing and IP cameras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eIQ + CMSIS-NN for TFLite and ONNX model deployment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Mature ecosystem: Variscite, CompuLab, Emcraft, Geniatech modules available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7b8a"/>
                </a:solidFill>
                <a:latin typeface="Calibri"/>
              </a:rPr>
              <a:t>COMMERCIAL &amp; MECHANICAL DATA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SoM Available: Yes — Variscite (67.8×33 mm), CompuLab (28×38 mm), Emcraft (58.4×58.4 mm), Geniatech SMARC (82×50 mm)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Carrier Board Available: Yes — Dahlia, SMARC carrier boards, eval kits from all major vendors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SoM Dimensions: 67.8 × 33 mm (VAR-SOM) | 28 × 38 mm (UCM) | 58.4 × 58.4 mm (Emcraft) | 82 × 50 mm (SMARC)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Carrier Board Lead Time: Eval kit: 1–3 weeks | Custom carrier design: 6–10 weeks | Volume: 10–14 weeks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Temp Rating: –40 °C to +105 °C (Junction) — EXCEEDS REQUIREMENT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9" name="Rectangle 2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0" name="TextBox 3"/>
          <p:cNvSpPr/>
          <p:nvPr/>
        </p:nvSpPr>
        <p:spPr>
          <a:xfrm>
            <a:off x="489960" y="137160"/>
            <a:ext cx="109069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05  |  Qualcomm QCS6490  —  HIGH PERF. (TEMP. CAVEAT)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81" name="TextBox 4"/>
          <p:cNvSpPr/>
          <p:nvPr/>
        </p:nvSpPr>
        <p:spPr>
          <a:xfrm>
            <a:off x="365760" y="960120"/>
            <a:ext cx="5486040" cy="343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7b8a"/>
                </a:solidFill>
                <a:latin typeface="Calibri"/>
              </a:rPr>
              <a:t>KEY SPECIFICATIONS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CPU: 8× Kryo 670 (1× 2.7 + 3× 2.4 + 4× 1.9 GHz)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AI Accelerator: Hexagon 770 DSP 12 TOPS (dense INT8)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GPU: Adreno 643 (812 MHz, OpenGL ES 3.2, Vulkan)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RAM: Up to 16 GB LPDDR5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Video Codec: Decode: 1× 4K@80 / 4× 1080p60 | Encode: 1× 4K@30 / 4× 1080p30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ISP: Spectra 570L triple ISP, 5× cameras, 64 MP ZSL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Camera: 5× 4-lane MIPI CSI (D-PHY / C-PHY)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Ethernet: Via companion chip (QPS615) — dual GbE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Safety: —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OS: Android 13, Linux (Yocto 5.0), Ubuntu, Win11 IoT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TDP: 6–9 W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Supply: 2036+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2" name="TextBox 5"/>
          <p:cNvSpPr/>
          <p:nvPr/>
        </p:nvSpPr>
        <p:spPr>
          <a:xfrm>
            <a:off x="6035040" y="960120"/>
            <a:ext cx="5668920" cy="59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7b8a"/>
                </a:solidFill>
                <a:latin typeface="Calibri"/>
              </a:rPr>
              <a:t>AI &amp; IMAGE PROCESSING CAPABILITIES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Highest AI throughput in mid-range class: 12 TOPS for complex models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Triple ISP supports 5 concurrent cameras — ideal for surround-view systems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Qualcomm SNPE + ONNX Runtime for optimised model deployment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Adreno GPU supports advanced UI rendering alongside AI inference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Best for premium robotics, high-end HMI, and multi-camera AI gateways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⚠️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TEMPERATURE LIMITATION: –30 °C minimum — NOT suitable for –40 °C cold-start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7b8a"/>
                </a:solidFill>
                <a:latin typeface="Calibri"/>
              </a:rPr>
              <a:t>COMMERCIAL &amp; MECHANICAL DATA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SoM Available: Yes — Aikri (65×40 mm), MitySOM (45×45 mm), Geniatech OSM (45×45 mm), SECO SMARC (82×50 mm), Lantronix (47×35 mm)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Carrier Board Available: Yes — Tessolve carrier, evaluation kits from Arrow/eInfochips, Lantronix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SoM Dimensions: 45 × 45 mm (MitySOM/OSM) | 65 × 40 mm (Aikri) | 82 × 50 mm (SMARC) | 47 × 35 mm (Lantronix)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Carrier Board Lead Time: Eval kit: 3–5 weeks | Custom carrier design: 10–14 weeks | Volume: 14–20 weeks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Temp Rating: –30 °C to +105 °C (Tj) — DOES NOT MEET –40 °C REQUIREMENT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4" name="Rectangle 2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5" name="TextBox 3"/>
          <p:cNvSpPr/>
          <p:nvPr/>
        </p:nvSpPr>
        <p:spPr>
          <a:xfrm>
            <a:off x="300960" y="137160"/>
            <a:ext cx="112849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06  |  NVIDIA Jetson Orin NX  —  HIGH PERF. (TEMP. CAVEAT)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86" name="TextBox 4"/>
          <p:cNvSpPr/>
          <p:nvPr/>
        </p:nvSpPr>
        <p:spPr>
          <a:xfrm>
            <a:off x="365760" y="960120"/>
            <a:ext cx="5486040" cy="343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7b8a"/>
                </a:solidFill>
                <a:latin typeface="Calibri"/>
              </a:rPr>
              <a:t>KEY SPECIFICATIONS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CPU: 8× Cortex-A78AE @ 2.0 GHz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AI Accelerator: Ampere GPU + Tensor Cores 100 TOPS (INT8)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GPU: Ampere (shared with AI, CUDA support)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RAM: Up to 16 GB LPDDR5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Video Codec: Decode: 1× 4K@60 / 8× 1080p30 | Encode: 1× 4K@60 / 6× 1080p60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ISP: Up to 7 cameras via virtual channels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Camera: Up to 16-lane MIPI CSI (4× 4L + 2× 2L)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Ethernet: 1× GbE (via carrier board expansion)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Safety: —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OS: Linux (JetPack / Ubuntu)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TDP: 10–25 W (active cooling required)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Supply: 2033+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7" name="TextBox 5"/>
          <p:cNvSpPr/>
          <p:nvPr/>
        </p:nvSpPr>
        <p:spPr>
          <a:xfrm>
            <a:off x="6035040" y="960120"/>
            <a:ext cx="5668920" cy="58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7b8a"/>
                </a:solidFill>
                <a:latin typeface="Calibri"/>
              </a:rPr>
              <a:t>AI &amp; IMAGE PROCESSING CAPABILITIES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Unmatched AI performance: 100 TOPS enables large-model inference at the edge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TensorRT + CUDA ecosystem for advanced AI research and deployment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Excellent for autonomous machines, advanced robotics, and AI R&amp;D platforms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4K@60 encode/decode with broad codec support (H.265, AV1, VP9)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Massive ecosystem: Connect Tech, Auvidea, AVerMedia, Seeed carrier boards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⚠️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TEMPERATURE LIMITATION: –25 °C minimum — NOT suitable for –40 °C cold-start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⚠️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No bare-metal / RTOS path — Linux-only platform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  <a:buNone/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007b8a"/>
                </a:solidFill>
                <a:latin typeface="Calibri"/>
              </a:rPr>
              <a:t>COMMERCIAL &amp; MECHANICAL DATA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SoM Available: Yes — NVIDIA module 100×79×21 mm (260-pin SODIMM edge connector)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Carrier Board Available: Yes — NVIDIA dev kit, Connect Tech, Auvidea, AVerMedia, Seeed, Antmicro (50+ vendors)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SoM Dimensions: 100 × 79 × 21 mm (NVIDIA module)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Carrier Board Lead Time: Eval kit: 1–2 weeks | Custom carrier design: 8–12 weeks | Volume: 12–16 weeks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</a:rPr>
              <a:t>Temp Rating: –25 °C to +85 °C (Extended) — DOES NOT MEET –40 °C REQUIREMENT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9" name="Rectangle 2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0" name="TextBox 3"/>
          <p:cNvSpPr/>
          <p:nvPr/>
        </p:nvSpPr>
        <p:spPr>
          <a:xfrm>
            <a:off x="123480" y="137160"/>
            <a:ext cx="116402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Comparative Matrix — SoM / Carrier / Dimensions / Lead Time</a:t>
            </a:r>
            <a:endParaRPr b="0" lang="en-IN" sz="2600" spc="-1" strike="noStrike">
              <a:latin typeface="Arial"/>
            </a:endParaRPr>
          </a:p>
        </p:txBody>
      </p:sp>
      <p:graphicFrame>
        <p:nvGraphicFramePr>
          <p:cNvPr id="91" name="Table 4"/>
          <p:cNvGraphicFramePr/>
          <p:nvPr/>
        </p:nvGraphicFramePr>
        <p:xfrm>
          <a:off x="274320" y="960120"/>
          <a:ext cx="11246760" cy="5440320"/>
        </p:xfrm>
        <a:graphic>
          <a:graphicData uri="http://schemas.openxmlformats.org/drawingml/2006/table">
            <a:tbl>
              <a:tblPr/>
              <a:tblGrid>
                <a:gridCol w="1737360"/>
                <a:gridCol w="1280160"/>
                <a:gridCol w="1188720"/>
                <a:gridCol w="2011680"/>
                <a:gridCol w="1645920"/>
                <a:gridCol w="1188720"/>
                <a:gridCol w="822960"/>
                <a:gridCol w="1371600"/>
              </a:tblGrid>
              <a:tr h="7772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Platform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b8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SoM</a:t>
                      </a:r>
                      <a:endParaRPr b="0" lang="en-IN" sz="11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Available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b8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Carrier</a:t>
                      </a:r>
                      <a:endParaRPr b="0" lang="en-IN" sz="11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Available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b8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SoM Dimensions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b8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Carrier Lead</a:t>
                      </a:r>
                      <a:endParaRPr b="0" lang="en-IN" sz="11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b8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Temp</a:t>
                      </a:r>
                      <a:endParaRPr b="0" lang="en-IN" sz="11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Range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b8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AI</a:t>
                      </a:r>
                      <a:endParaRPr b="0" lang="en-IN" sz="11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TOPS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b8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Video</a:t>
                      </a:r>
                      <a:endParaRPr b="0" lang="en-IN" sz="11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Codec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b8a"/>
                    </a:solidFill>
                  </a:tcPr>
                </a:tc>
              </a:tr>
              <a:tr h="7772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TI TDA4VM/</a:t>
                      </a:r>
                      <a:endParaRPr b="0" lang="en-IN" sz="10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AM68A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✓ </a:t>
                      </a: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  <a:endParaRPr b="0" lang="en-IN" sz="10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(3 vendors)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✓ </a:t>
                      </a: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57×54 / 82×50 /</a:t>
                      </a:r>
                      <a:endParaRPr b="0" lang="en-IN" sz="10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80×80 mm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Eval: 2–4 wks</a:t>
                      </a:r>
                      <a:endParaRPr b="0" lang="en-IN" sz="10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Custom: 10–14 wks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–</a:t>
                      </a: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40 to</a:t>
                      </a:r>
                      <a:endParaRPr b="0" lang="en-IN" sz="10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+105 °C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4K60 dec</a:t>
                      </a:r>
                      <a:endParaRPr b="0" lang="en-IN" sz="10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1080p60 enc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7772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Rockchip</a:t>
                      </a:r>
                      <a:endParaRPr b="0" lang="en-IN" sz="10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RK3588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✓ </a:t>
                      </a: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  <a:endParaRPr b="0" lang="en-IN" sz="10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(5+ vendors)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✓ </a:t>
                      </a: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68×50 / 82×50</a:t>
                      </a:r>
                      <a:endParaRPr b="0" lang="en-IN" sz="10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mm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Eval: 1–2 wks</a:t>
                      </a:r>
                      <a:endParaRPr b="0" lang="en-IN" sz="10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Custom: 8–12 wks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–</a:t>
                      </a: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40 to</a:t>
                      </a:r>
                      <a:endParaRPr b="0" lang="en-IN" sz="10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+85 °C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8K60 dec</a:t>
                      </a:r>
                      <a:endParaRPr b="0" lang="en-IN" sz="10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8K30 enc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NXP i.MX 95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✓ </a:t>
                      </a: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  <a:endParaRPr b="0" lang="en-IN" sz="10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(2 vendors)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✓ </a:t>
                      </a: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55×30 / 28×40</a:t>
                      </a:r>
                      <a:endParaRPr b="0" lang="en-IN" sz="10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mm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Eval: 2–4 wks</a:t>
                      </a:r>
                      <a:endParaRPr b="0" lang="en-IN" sz="10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Custom: 8–12 wks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–</a:t>
                      </a: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40 to</a:t>
                      </a:r>
                      <a:endParaRPr b="0" lang="en-IN" sz="10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+85 °C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4K60 enc/dec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7772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NXP i.MX 8M</a:t>
                      </a:r>
                      <a:endParaRPr b="0" lang="en-IN" sz="10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Plus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✓ </a:t>
                      </a: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  <a:endParaRPr b="0" lang="en-IN" sz="10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(4+ vendors)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✓ </a:t>
                      </a: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67.8×33 / 28×38 /</a:t>
                      </a:r>
                      <a:endParaRPr b="0" lang="en-IN" sz="10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58.4×58.4 / 82×50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Eval: 1–3 wks</a:t>
                      </a:r>
                      <a:endParaRPr b="0" lang="en-IN" sz="10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Custom: 6–10 wks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–</a:t>
                      </a: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40 to</a:t>
                      </a:r>
                      <a:endParaRPr b="0" lang="en-IN" sz="10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+105 °C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2.3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1080p60</a:t>
                      </a:r>
                      <a:endParaRPr b="0" lang="en-IN" sz="10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enc/dec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Qualcomm</a:t>
                      </a:r>
                      <a:endParaRPr b="0" lang="en-IN" sz="10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QCS6490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✓ </a:t>
                      </a: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  <a:endParaRPr b="0" lang="en-IN" sz="10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(5 vendors)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✓ </a:t>
                      </a: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45×45 / 65×40 /</a:t>
                      </a:r>
                      <a:endParaRPr b="0" lang="en-IN" sz="10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82×50 / 47×35 mm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Eval: 3–5 wks</a:t>
                      </a:r>
                      <a:endParaRPr b="0" lang="en-IN" sz="10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Custom: 10–14 wks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–</a:t>
                      </a: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30 to</a:t>
                      </a:r>
                      <a:endParaRPr b="0" lang="en-IN" sz="10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+105 °C ⚠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12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4K80 dec</a:t>
                      </a:r>
                      <a:endParaRPr b="0" lang="en-IN" sz="10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4K30 enc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7772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NVIDIA Jetson</a:t>
                      </a:r>
                      <a:endParaRPr b="0" lang="en-IN" sz="10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Orin NX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✓ </a:t>
                      </a: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  <a:endParaRPr b="0" lang="en-IN" sz="10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(NVIDIA)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✓ </a:t>
                      </a: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Yes</a:t>
                      </a:r>
                      <a:endParaRPr b="0" lang="en-IN" sz="10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(50+ vendors)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100×79×21 mm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Eval: 1–2 wks</a:t>
                      </a:r>
                      <a:endParaRPr b="0" lang="en-IN" sz="10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Custom: 8–12 wks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–</a:t>
                      </a: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25 to</a:t>
                      </a:r>
                      <a:endParaRPr b="0" lang="en-IN" sz="10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+85 °C ⚠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100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4K60 enc/dec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3" name="Rectangle 2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4" name="TextBox 3"/>
          <p:cNvSpPr/>
          <p:nvPr/>
        </p:nvSpPr>
        <p:spPr>
          <a:xfrm>
            <a:off x="88560" y="137160"/>
            <a:ext cx="1171008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AI Inference Performance Benchmarks (INT8, Representative)</a:t>
            </a:r>
            <a:endParaRPr b="0" lang="en-IN" sz="2600" spc="-1" strike="noStrike">
              <a:latin typeface="Arial"/>
            </a:endParaRPr>
          </a:p>
        </p:txBody>
      </p:sp>
      <p:graphicFrame>
        <p:nvGraphicFramePr>
          <p:cNvPr id="95" name="Table 4"/>
          <p:cNvGraphicFramePr/>
          <p:nvPr/>
        </p:nvGraphicFramePr>
        <p:xfrm>
          <a:off x="457200" y="1005840"/>
          <a:ext cx="11246760" cy="3565800"/>
        </p:xfrm>
        <a:graphic>
          <a:graphicData uri="http://schemas.openxmlformats.org/drawingml/2006/table">
            <a:tbl>
              <a:tblPr/>
              <a:tblGrid>
                <a:gridCol w="1828800"/>
                <a:gridCol w="1554480"/>
                <a:gridCol w="1554480"/>
                <a:gridCol w="1554480"/>
                <a:gridCol w="1554480"/>
                <a:gridCol w="1554480"/>
                <a:gridCol w="1645920"/>
              </a:tblGrid>
              <a:tr h="5943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b8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TI TDA4VM</a:t>
                      </a:r>
                      <a:endParaRPr b="0" lang="en-IN" sz="11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(8 TOPS)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b8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RK3588</a:t>
                      </a:r>
                      <a:endParaRPr b="0" lang="en-IN" sz="11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(6 TOPS)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b8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i.MX 95</a:t>
                      </a:r>
                      <a:endParaRPr b="0" lang="en-IN" sz="11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(2 TOPS)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b8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i.MX 8M Plus</a:t>
                      </a:r>
                      <a:endParaRPr b="0" lang="en-IN" sz="11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(2.3 TOPS)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b8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QCS6490</a:t>
                      </a:r>
                      <a:endParaRPr b="0" lang="en-IN" sz="11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(12 TOPS)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b8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Jetson Orin NX</a:t>
                      </a:r>
                      <a:endParaRPr b="0" lang="en-IN" sz="11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(100 TOPS)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7b8a"/>
                    </a:solidFill>
                  </a:tcPr>
                </a:tc>
              </a:tr>
              <a:tr h="5943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ResNet-50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~35 fps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~28 fps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~10 fps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~11 fps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~55 fps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~450 fps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YOLOv5s</a:t>
                      </a:r>
                      <a:endParaRPr b="0" lang="en-IN" sz="11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@ 1080p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~45 fps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~38 fps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~12 fps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~14 fps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~70 fps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~600 fps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YOLOv8m</a:t>
                      </a:r>
                      <a:endParaRPr b="0" lang="en-IN" sz="11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@ 1080p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~18 fps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~15 fps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~5 fps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~6 fps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~28 fps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~240 fps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MobileNet-SSD</a:t>
                      </a:r>
                      <a:endParaRPr b="0" lang="en-IN" sz="11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@ 1080p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~120 fps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~100 fps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~35 fps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~40 fps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~180 fps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~1500 fps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Pose Est.</a:t>
                      </a:r>
                      <a:endParaRPr b="0" lang="en-IN" sz="11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(MoveNet)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~55 fps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~45 fps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~15 fps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~18 fps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~85 fps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1a1a1a"/>
                          </a:solidFill>
                          <a:latin typeface="Calibri"/>
                        </a:rPr>
                        <a:t>~700 fps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6" name="TextBox 5"/>
          <p:cNvSpPr/>
          <p:nvPr/>
        </p:nvSpPr>
        <p:spPr>
          <a:xfrm>
            <a:off x="524160" y="4663440"/>
            <a:ext cx="1111284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1100" spc="-1" strike="noStrike">
                <a:solidFill>
                  <a:srgbClr val="666666"/>
                </a:solidFill>
                <a:latin typeface="Calibri"/>
              </a:rPr>
              <a:t>Note: Benchmarks are indicative. Actual performance depends on model quantisation, memory bandwidth, compiler optimisations, and thermal conditions.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8" name="Rectangle 2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9" name="TextBox 3"/>
          <p:cNvSpPr/>
          <p:nvPr/>
        </p:nvSpPr>
        <p:spPr>
          <a:xfrm>
            <a:off x="1159560" y="137160"/>
            <a:ext cx="95673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Real-Time Video Conferencing Subsystem Analysis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00" name="TextBox 4"/>
          <p:cNvSpPr/>
          <p:nvPr/>
        </p:nvSpPr>
        <p:spPr>
          <a:xfrm>
            <a:off x="457200" y="960120"/>
            <a:ext cx="11246760" cy="55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CRITICAL PATH LATENCY BUDGET (30 fps conferencing, ITU-T G.114 &lt;150 ms one-way):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    →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ISP processing: &lt;5 ms per frame  |  Video encode: &lt;10 ms  |  Network + jitter: &lt;50 ms  |  Decode + render: &lt;10 ms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PLATFORM SUITABILITY FOR CONFERENCING: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TI TDA4VM — 1× 1080p60 encode + 4× 1080p60 decode simultaneously. GStreamer plugins from TI abstract HW codec.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    →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6× R5F cores run deterministic audio path (MCASP) in parallel with Linux AV pipeline. TSN Ethernet for AVB.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Rockchip RK3588 — 8K encode + 8K decode. Highest bandwidth. Best for multi-participant gateway (4+ streams).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    →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No TSN support. Linux-only audio path.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NXP i.MX 95 — 4K60 encode/decode. TSN GbE. M7/M33 RTOS cores for deterministic audio. 2-TOPS NPU for light AI overlay.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NXP i.MX 8M Plus — 1080p60 encode/decode. Adequate for SD conferencing. TSN GbE. Lowest power.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Qualcomm QCS6490 — 4K30 encode + 4K80 decode. Triple ISP. Best for premium multi-camera conferencing bars.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    → ⚠️ –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30 °C limit. No TSN. Companion chip required for dual GbE.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NVIDIA Jetson Orin NX — 4K60 encode/decode. 100 TOPS enables AI background blur / noise suppression on-device.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    → ⚠️ –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25 °C limit. Active cooling required. No RTOS/bare-metal path.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2" name="Rectangle 2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3" name="TextBox 3"/>
          <p:cNvSpPr/>
          <p:nvPr/>
        </p:nvSpPr>
        <p:spPr>
          <a:xfrm>
            <a:off x="2073960" y="137160"/>
            <a:ext cx="77385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Recommendations by Application Profile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04" name="TextBox 4"/>
          <p:cNvSpPr/>
          <p:nvPr/>
        </p:nvSpPr>
        <p:spPr>
          <a:xfrm>
            <a:off x="457200" y="960120"/>
            <a:ext cx="11246760" cy="55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SAFETY-CRITICAL INDUSTRIAL VISION + CONFERENCING  →  TEXAS INSTRUMENTS TDA4VM / AM68A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    → </a:t>
            </a: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Only platform with ASIL-D / SIL-3 targeting, lockstep R5F cores, full ECC, and –40 °C cold-start.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    → </a:t>
            </a: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Dual-domain architecture guarantees deterministic safety loops alongside AV pipelines.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MULTI-CHANNEL AI VIDEO GATEWAY (4+ CAMERAS)  →  ROCKCHIP RK3588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    → </a:t>
            </a: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Unmatched codec bandwidth (8K enc/dec) enables simultaneous transcoding of multiple conference streams.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    → </a:t>
            </a: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6-TOPS NPU supports per-channel AI analytics concurrently. Best price/performance.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LONG-LIFE INDUSTRIAL HMI WITH LIGHT AI  →  NXP i.MX 95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    → </a:t>
            </a: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10–15 year supply guarantee and mature Yocto/FreeRTOS ecosystem minimise re-certification risk.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    → </a:t>
            </a: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TSN-enabled Ethernet supports Industry 4.0 deterministic AV and control traffic.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COST-SENSITIVE SMART CAMERA / DOOR PHONE  →  NXP i.MX 8M Plus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    → </a:t>
            </a: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Lowest TDP (3–5 W) and BOM cost. Dual ISP and 1080p60 codec ideal for 2–3 MP cameras.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    → </a:t>
            </a: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Proven shipping volume with IEC 61508 / ISO 26262 certification.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HIGH-PERFORMANCE RESEARCH / NON-CRITICAL ROBOTICS  →  Qualcomm QCS6490 OR NVIDIA Jetson Orin NX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    → </a:t>
            </a: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QCS6490: 12 TOPS, 4K conferencing, –30 °C min (acceptable for climate-controlled environments).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    → </a:t>
            </a:r>
            <a:r>
              <a:rPr b="0" lang="en-US" sz="1500" spc="-1" strike="noStrike">
                <a:solidFill>
                  <a:srgbClr val="1a1a1a"/>
                </a:solidFill>
                <a:latin typeface="Calibri"/>
              </a:rPr>
              <a:t>Jetson Orin NX: 100 TOPS, CUDA ecosystem, –25 °C min (best for AI R&amp;D and autonomous machines).</a:t>
            </a:r>
            <a:endParaRPr b="0" lang="en-IN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6" name="Rectangle 2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7" name="TextBox 3"/>
          <p:cNvSpPr/>
          <p:nvPr/>
        </p:nvSpPr>
        <p:spPr>
          <a:xfrm>
            <a:off x="499680" y="137160"/>
            <a:ext cx="108871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Procurement, Supply Chain &amp; Carrier Board Development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08" name="TextBox 4"/>
          <p:cNvSpPr/>
          <p:nvPr/>
        </p:nvSpPr>
        <p:spPr>
          <a:xfrm>
            <a:off x="457200" y="960120"/>
            <a:ext cx="11246760" cy="590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SoM vs. CHIP-LEVEL DESIGN TRADE-OFF: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    →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SoM approach reduces time-to-market by 6–9 months. Carrier board design is simpler (2–6 layers) vs. 10–14 layer SoM.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    →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SoM vendors provide reference schematics, BOM, PCB layout, and free design review (CompuLab, Variscite, PHYTEC).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    →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Custom carrier boards typically require: schematic capture (2–3 wks) → PCB layout (2–4 wks) → fabrication (1–2 wks) → bring-up (2–3 wks).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LEAD TIME SUMMARY: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    →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Evaluation kits: 1–5 weeks (stock dependent)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    →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Custom carrier board design + prototype: 6–14 weeks (depends on layer count and vendor support)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    →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Volume production ramp: 10–20 weeks after prototype validation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    →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Component sourcing (LPDDR5, PMIC, connectors) is the critical path — allocate 8–12 weeks for long-lead parts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SUPPLY LONGEVITY &amp; RISK: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    →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LOW RISK: NXP (2038+), Texas Instruments (2036+), Qualcomm (2036+)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    →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MEDIUM RISK: Rockchip (2033+), NVIDIA (2033+)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    →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For safety-critical / medical / automotive: prioritise NXP and TI with formal PCN (Product Change Notification) programmes.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INDUSTRIAL MODULE VENDORS (Verified –40 °C to +85 °C):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    →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TI: PHYTEC, Congatec, Bit Mapper  |  Rockchip: Forlinx, Qiyang, Geniatech  |  NXP: Variscite, CompuLab, Emcraft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    →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Qualcomm: Aikri/Arrow, MitySOM/Critical Link, Geniatech, SECO, Lantronix  |  NVIDIA: NVIDIA, Connect Tech, Auvidea, AVerMedia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0" name="TextBox 2"/>
          <p:cNvSpPr/>
          <p:nvPr/>
        </p:nvSpPr>
        <p:spPr>
          <a:xfrm>
            <a:off x="731520" y="1371600"/>
            <a:ext cx="10698120" cy="56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FINAL RANKED SHORTLIST</a:t>
            </a:r>
            <a:endParaRPr b="0" lang="en-IN" sz="3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7b8a"/>
                </a:solidFill>
                <a:latin typeface="Calibri"/>
              </a:rPr>
              <a:t>1. TEXAS INSTRUMENTS TDA4VM / AM68A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7b8a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007b8a"/>
                </a:solidFill>
                <a:latin typeface="Calibri"/>
              </a:rPr>
              <a:t>Best overall balance of AI compute, AV codec, functional safety, and extreme-temperature operation.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7b8a"/>
                </a:solidFill>
                <a:latin typeface="Calibri"/>
              </a:rPr>
              <a:t>2. ROCKCHIP RK3588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7b8a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007b8a"/>
                </a:solidFill>
                <a:latin typeface="Calibri"/>
              </a:rPr>
              <a:t>Best codec performance and cost efficiency for multi-channel AI video gateways.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7b8a"/>
                </a:solidFill>
                <a:latin typeface="Calibri"/>
              </a:rPr>
              <a:t>3. NXP i.MX 95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7b8a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007b8a"/>
                </a:solidFill>
                <a:latin typeface="Calibri"/>
              </a:rPr>
              <a:t>Best long-term industrial support, TSN networking, and supply longevity.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7b8a"/>
                </a:solidFill>
                <a:latin typeface="Calibri"/>
              </a:rPr>
              <a:t>4. NXP i.MX 8M Plus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7b8a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007b8a"/>
                </a:solidFill>
                <a:latin typeface="Calibri"/>
              </a:rPr>
              <a:t>Best for cost-sensitive, safety-certified 1080p vision and conferencing applications.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7b8a"/>
                </a:solidFill>
                <a:latin typeface="Calibri"/>
              </a:rPr>
              <a:t>5. Qualcomm QCS6490 / NVIDIA Jetson Orin NX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1600" spc="-1" strike="noStrike">
                <a:solidFill>
                  <a:srgbClr val="007b8a"/>
                </a:solidFill>
                <a:latin typeface="Calibri"/>
              </a:rPr>
              <a:t>    </a:t>
            </a:r>
            <a:r>
              <a:rPr b="0" lang="en-US" sz="1600" spc="-1" strike="noStrike">
                <a:solidFill>
                  <a:srgbClr val="007b8a"/>
                </a:solidFill>
                <a:latin typeface="Calibri"/>
              </a:rPr>
              <a:t>Reserved for high-performance use cases where –30 °C / –25 °C cold-start is acceptable.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11" name="TextBox 3"/>
          <p:cNvSpPr/>
          <p:nvPr/>
        </p:nvSpPr>
        <p:spPr>
          <a:xfrm>
            <a:off x="2912400" y="5943600"/>
            <a:ext cx="63363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88888"/>
                </a:solidFill>
                <a:latin typeface="Calibri"/>
              </a:rPr>
              <a:t>Document: Industrial Edge AI Processor Selection  |  August 2026  |  Revision 1.0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