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91440" cy="43891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Industrial-Grade Edge AI</a:t>
            </a:r>
          </a:p>
          <a:p>
            <a:r>
              <a:rPr sz="4000" b="1">
                <a:solidFill>
                  <a:srgbClr val="0097A7"/>
                </a:solidFill>
              </a:rPr>
              <a:t>Processor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6517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DCE6EE"/>
                </a:solidFill>
              </a:rPr>
              <a:t>Technical selection for heavy deep-learning inference
and real-time video conferencing in industrial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0690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Technical Evaluation — Internal Use</a:t>
            </a:r>
          </a:p>
          <a:p>
            <a:r>
              <a:rPr sz="1100">
                <a:solidFill>
                  <a:srgbClr val="B4C3D0"/>
                </a:solidFill>
              </a:rPr>
              <a:t>13 August 2026  |  Revision 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005840"/>
            <a:ext cx="2423160" cy="914400"/>
          </a:xfrm>
          <a:prstGeom prst="roundRect">
            <a:avLst/>
          </a:prstGeom>
          <a:solidFill>
            <a:srgbClr val="182D41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115568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4C3D0"/>
                </a:solidFill>
              </a:rPr>
              <a:t>AI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8 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240280"/>
            <a:ext cx="2423160" cy="914400"/>
          </a:xfrm>
          <a:prstGeom prst="roundRect">
            <a:avLst/>
          </a:prstGeom>
          <a:solidFill>
            <a:srgbClr val="182D41"/>
          </a:solidFill>
          <a:ln>
            <a:solidFill>
              <a:srgbClr val="20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350008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4C3D0"/>
                </a:solidFill>
              </a:rPr>
              <a:t>VIDEO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4K / 1080p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474720"/>
            <a:ext cx="2423160" cy="914400"/>
          </a:xfrm>
          <a:prstGeom prst="roundRect">
            <a:avLst/>
          </a:prstGeom>
          <a:solidFill>
            <a:srgbClr val="182D4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584448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4C3D0"/>
                </a:solidFill>
              </a:rPr>
              <a:t>TEMP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−40…+85°C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Selection outcome and decision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10312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18287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97A7"/>
                </a:solidFill>
              </a:rPr>
              <a:t>TDA4VM / AM68A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55648"/>
            <a:ext cx="18836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Primary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234440"/>
            <a:ext cx="210312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344168"/>
            <a:ext cx="18287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05C96"/>
                </a:solidFill>
              </a:rPr>
              <a:t>RK3588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1755648"/>
            <a:ext cx="18836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Secondary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234440"/>
            <a:ext cx="210312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344168"/>
            <a:ext cx="18287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</a:rPr>
              <a:t>8 TOPS INT8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755648"/>
            <a:ext cx="18836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AI accelerator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234440"/>
            <a:ext cx="210312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344168"/>
            <a:ext cx="18287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</a:rPr>
              <a:t>−40…+105°C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1755648"/>
            <a:ext cx="18836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Industrial junction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234440"/>
            <a:ext cx="173736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344168"/>
            <a:ext cx="1463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1F30"/>
                </a:solidFill>
              </a:rPr>
              <a:t>2036+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7" y="1755648"/>
            <a:ext cx="1517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Supply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514600"/>
            <a:ext cx="5303520" cy="26974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514600"/>
            <a:ext cx="54864" cy="26974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2660904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0"/>
                </a:solidFill>
              </a:rPr>
              <a:t>Why TDA4VM / AM68A leads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127248"/>
            <a:ext cx="493775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74"/>
                </a:solidFill>
              </a:rPr>
              <a:t>Converges heavy edge AI, hardware video, integrated vision processing and deterministic real-time control. The report identifies it as the strongest overall balance for harsh industrial deployments.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514600"/>
            <a:ext cx="5349240" cy="26974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514600"/>
            <a:ext cx="54864" cy="2697480"/>
          </a:xfrm>
          <a:prstGeom prst="rect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660904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0"/>
                </a:solidFill>
              </a:rPr>
              <a:t>When RK3588 becomes the better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127248"/>
            <a:ext cx="49834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74"/>
                </a:solidFill>
              </a:rPr>
              <a:t>Choose when 8K multimedia bandwidth, multi-channel video analytics and cost efficiency are the dominant drivers, with industrial-grade module qualification available.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59552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Decision principle: industrial temperature + deterministic real-time + AI + hardware AV must be evaluated together.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Mandatory and high-priority requirements from the technical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251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Ambient −40°C to +85°C; minimum −40°C to +70°C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Mandatory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FR-02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On-device heavy DL inference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Mandatory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FR-03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Real-time bidirectional video conferencing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Mandatory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FR-04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Hardware H.264 / H.265 encode &amp; decode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Mandatory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Integrated ISP, HDR, multi-camera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FR-06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C/C++ + RTOS path alongside Linux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FR-07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TFLite / ONNX Runtime or equivalent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Mandatory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FR-08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Gigabit Ethernet / high-speed wireless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FR-09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Functional safety + 10–15 year supply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23560"/>
            <a:ext cx="3429000" cy="5943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623560"/>
            <a:ext cx="54864" cy="594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76986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1F30"/>
                </a:solidFill>
              </a:rPr>
              <a:t>Real-time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6236208"/>
            <a:ext cx="3063240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6974"/>
                </a:solidFill>
              </a:rPr>
              <a:t>Dedicated RTOS core; &lt;1 ms jitter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623560"/>
            <a:ext cx="3429000" cy="5943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5623560"/>
            <a:ext cx="54864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576986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1F30"/>
                </a:solidFill>
              </a:rPr>
              <a:t>Thermal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6236208"/>
            <a:ext cx="3063240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6974"/>
                </a:solidFill>
              </a:rPr>
              <a:t>Passive cooling preferred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623560"/>
            <a:ext cx="3429000" cy="5943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5623560"/>
            <a:ext cx="54864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576986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1F30"/>
                </a:solidFill>
              </a:rP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6236208"/>
            <a:ext cx="3063240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6974"/>
                </a:solidFill>
              </a:rPr>
              <a:t>ECC + secure boot + hardware crypto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Weighted decision framework used in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44200" cy="658368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463040" cy="65836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62456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AI Compute Density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5331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7A7"/>
                </a:solidFill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6245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INT8 TOPS, utilisation, framework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30552"/>
            <a:ext cx="10744200" cy="658368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30552"/>
            <a:ext cx="1463040" cy="658368"/>
          </a:xfrm>
          <a:prstGeom prst="rect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5856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Video Conferencing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49424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5C96"/>
                </a:solidFill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5856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Codec concurrency, ISP, AV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26664"/>
            <a:ext cx="10744200" cy="658368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26664"/>
            <a:ext cx="1170432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546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Industrial Ruggedness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145536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D32"/>
                </a:solidFill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546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Temperature, ECC, safety, MTBF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22776"/>
            <a:ext cx="10744200" cy="658368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22776"/>
            <a:ext cx="87782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50791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Software Maturity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04164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67E22"/>
                </a:solidFill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50791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BSP, Yocto, GStreamer/V4L2, RTOS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18888"/>
            <a:ext cx="10744200" cy="658368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18888"/>
            <a:ext cx="877824" cy="658368"/>
          </a:xfrm>
          <a:prstGeom prst="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46903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I/O &amp;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937759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46903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Camera, Ethernet, USB, PCIe, modules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C6974"/>
                </a:solidFill>
              </a:rPr>
              <a:t>Screening rule: only platforms with publicly confirmed industrial-temperature silicon or industrial-grade SoM variants were considered.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Platform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Six evaluated platform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29000" cy="16459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4864" cy="16459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807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TI TDA4VM / AM68A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8 TOPS INT8
−40…+85°C
Primary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29000" cy="16459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54864" cy="1645920"/>
          </a:xfrm>
          <a:prstGeom prst="rect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3807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Rockchip RK3588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6 TOPS INT8
−40…+85°C*
Secondary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234440"/>
            <a:ext cx="3429000" cy="16459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234440"/>
            <a:ext cx="54864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3807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NXP i.MX 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8470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2 TOPS INT8
−40…+85°C
Tertiary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91840"/>
            <a:ext cx="3429000" cy="16459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291840"/>
            <a:ext cx="54864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4381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NXP i.MX 8M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9044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2.3 TOPS INT8
−40…+85°C
Proven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91840"/>
            <a:ext cx="3429000" cy="16459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291840"/>
            <a:ext cx="54864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4381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Qualcomm QCS6490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044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12 TOPS INT8
−30…+105°C Tj
Caveat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291840"/>
            <a:ext cx="3429000" cy="16459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291840"/>
            <a:ext cx="54864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34381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NVIDIA Jetson Orin NX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9044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100 TOPS INT8
−25…+85°C
Caveat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* Industrial RK3588 module variants are reported as −40°C to +85°C ambient; consumer variants are not equivalent.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Primary Recommendation — TI TDA4VM / AM68A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Converged architecture for AI, AV and deterministic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97A7"/>
                </a:solidFill>
              </a:rPr>
              <a:t>8 TOPS INT8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05C96"/>
                </a:solidFill>
              </a:rPr>
              <a:t>C7x • 80 GFLOPS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DSP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</a:rPr>
              <a:t>480 MP/s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ISP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</a:rPr>
              <a:t>6× Cortex-R5F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RT cores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1F30"/>
                </a:solidFill>
              </a:rPr>
              <a:t>ASIL-D / SIL-3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Safety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331720"/>
            <a:ext cx="5257800" cy="26517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331720"/>
            <a:ext cx="54864" cy="2651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24780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30"/>
                </a:solidFill>
              </a:rPr>
              <a:t>Compute &amp; 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2944368"/>
            <a:ext cx="48920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74"/>
                </a:solidFill>
              </a:rPr>
              <a:t>Dual Cortex-A72 application CPUs plus six Cortex-R5F MCUs. Two R5F cores are in an isolated lockstep safety domain. C7x DSP + Deep-Learning MMA provides the AI acceleration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331720"/>
            <a:ext cx="5257800" cy="26517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331720"/>
            <a:ext cx="54864" cy="2651760"/>
          </a:xfrm>
          <a:prstGeom prst="rect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4780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30"/>
                </a:solidFill>
              </a:rPr>
              <a:t>Vision &amp; conferencing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944368"/>
            <a:ext cx="48920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74"/>
                </a:solidFill>
              </a:rPr>
              <a:t>480 MP/s ISP with HDR/dewarp. Hardware decode supports 4K and multiple 1080p streams. CSI-2 camera connectivity and hardware encode/decode enable a low-CPU AV pipeline.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12080"/>
            <a:ext cx="10789920" cy="6858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21208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358384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F30"/>
                </a:solidFill>
              </a:rPr>
              <a:t>Industrial 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5824728"/>
            <a:ext cx="104241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−40°C to +105°C junction; ECC; Linux + FreeRTOS/SafeRTOS; ONNX/TFLite via TIDL; GStreamer/V4L2.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Secondary Recommendation — Rockchip RK3588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Best multimedia bandwidth and multi-channel gateway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05C96"/>
                </a:solidFill>
              </a:rPr>
              <a:t>6 TOPS INT8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NPU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97A7"/>
                </a:solidFill>
              </a:rPr>
              <a:t>8K @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Decode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</a:rPr>
              <a:t>8K @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Encode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</a:rPr>
              <a:t>Up to 32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143000"/>
            <a:ext cx="201168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25272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1F30"/>
                </a:solidFill>
              </a:rPr>
              <a:t>Dual 2.5 GbE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1664207"/>
            <a:ext cx="17922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Network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331720"/>
            <a:ext cx="5257800" cy="26517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331720"/>
            <a:ext cx="54864" cy="2651760"/>
          </a:xfrm>
          <a:prstGeom prst="rect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24780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30"/>
                </a:solidFill>
              </a:rPr>
              <a:t>Why it excels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2944368"/>
            <a:ext cx="48920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74"/>
                </a:solidFill>
              </a:rPr>
              <a:t>Highest hardware codec bandwidth in the evaluation. Supports 8K encode/decode, up to four concurrent camera inputs, strong ISP features and a broad industrial module ecosystem.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331720"/>
            <a:ext cx="5257800" cy="26517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331720"/>
            <a:ext cx="54864" cy="2651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4780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1F30"/>
                </a:solidFill>
              </a:rPr>
              <a:t>AI +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944368"/>
            <a:ext cx="48920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74"/>
                </a:solidFill>
              </a:rPr>
              <a:t>Triple-core NPU supports INT4/INT8/INT16/FP16 hybrid operations. RKNN Toolkit 2.0 supports ONNX/TFLite conversion and INT8 quantisation; Linux, Buildroot and Yocto are available.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12080"/>
            <a:ext cx="10789920" cy="6858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212080"/>
            <a:ext cx="54864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358384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F30"/>
                </a:solidFill>
              </a:rPr>
              <a:t>Trade-off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5824728"/>
            <a:ext cx="104241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Excellent performance-per-dollar, but safety-critical deployments may require additional environmental qualification and ecosystem due diligence.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NXP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Balanced industrial lifecycle and safety-oriented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43891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4389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074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0"/>
                </a:solidFill>
              </a:rPr>
              <a:t>i.MX 95 — Long-life industrial HMI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47088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• 2 TOPS INT8 Neutron NPU
• 6× Cortex-A55 + M7 + M33
• 4Kp60 H.264/H.265/VP9 encode/decode
• Dual ISP; multi-camera
• Dual GbE, one with TSN
• Inline DRAM ECC
• −40°C to +85°C industrial SKUs
• Supply stated through 2038+
• Best for Industry 4.0, robotics and deterministic HMI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257800" cy="43891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4864" cy="4389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8074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0"/>
                </a:solidFill>
              </a:rPr>
              <a:t>i.MX 8M Plus — Cost-sensitive smart camera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47088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74"/>
                </a:solidFill>
              </a:rPr>
              <a:t>• 2.3 TOPS NPU
• 4× Cortex-A53 + M7
• 1080p60 H.264/H.265 encode/decode
• Dual ISP, 375 MP/s
• Dual GbE, TSN on one interface
• Inline ECC
• −40°C to +105°C junction
• IEC 61508 / ISO 26262
• Best for smart cameras and 1080p conferencing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High-Performance Platforms with Temperature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Powerful AI, but outside the strict −40°C cold-start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42062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4206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074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F30"/>
                </a:solidFill>
              </a:rPr>
              <a:t>Qualcomm QCS6490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47088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74"/>
                </a:solidFill>
              </a:rPr>
              <a:t>12 dense TOPS • 4K-class video • triple ISP • up to five concurrent cameras
Temperature: −30°C to +105°C junction
Best fit: high-end robotics, premium conferencing bars and AI gateways where −30°C is acceptable.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257800" cy="42062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4864" cy="4206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8074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F30"/>
                </a:solidFill>
              </a:rPr>
              <a:t>NVIDIA Jetson Orin 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47088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74"/>
                </a:solidFill>
              </a:rPr>
              <a:t>100 TOPS INT8 • Ampere GPU/Tensor Cores • 4K video • up to seven cameras
Temperature: −25°C to +85°C module range
Best fit: high-performance autonomous machines and AI research platforms where extreme cold-start is not a factor.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5669280"/>
            <a:ext cx="9875520" cy="502920"/>
          </a:xfrm>
          <a:prstGeom prst="roundRect">
            <a:avLst/>
          </a:prstGeom>
          <a:solidFill>
            <a:srgbClr val="FDEFEC"/>
          </a:solidFill>
          <a:ln>
            <a:solidFill>
              <a:srgbClr val="E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769864"/>
            <a:ext cx="9509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</a:rPr>
              <a:t>Recommendation: use only when environmental constraints are relaxed or active thermal management is feasible.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Comparative Technical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Decision-driving specifications from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2263F"/>
                </a:solidFill>
                <a:latin typeface="Aptos Display"/>
              </a:rPr>
              <a:t>Comparative Technical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658368"/>
            <a:ext cx="10972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06E7C"/>
                </a:solidFill>
                <a:latin typeface="Aptos"/>
              </a:rPr>
              <a:t>Complete engineering comparison including compute, video, memory, reliability, power, thermal behaviour and software platform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1024128"/>
          <a:ext cx="1173175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737360"/>
                <a:gridCol w="1691640"/>
                <a:gridCol w="1664208"/>
                <a:gridCol w="1719072"/>
                <a:gridCol w="1847088"/>
                <a:gridCol w="1764792"/>
              </a:tblGrid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36576" marR="32004" marT="22860" marB="22860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 TDA4VM / AM68A</a:t>
                      </a:r>
                    </a:p>
                  </a:txBody>
                  <a:tcPr marL="36576" marR="32004" marT="22860" marB="22860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Rockchip RK3588</a:t>
                      </a:r>
                    </a:p>
                  </a:txBody>
                  <a:tcPr marL="36576" marR="32004" marT="22860" marB="22860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NXP i.MX 95</a:t>
                      </a:r>
                    </a:p>
                  </a:txBody>
                  <a:tcPr marL="36576" marR="32004" marT="22860" marB="22860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NXP i.MX 8M Plus</a:t>
                      </a:r>
                    </a:p>
                  </a:txBody>
                  <a:tcPr marL="36576" marR="32004" marT="22860" marB="22860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Qualcomm QCS6490</a:t>
                      </a:r>
                    </a:p>
                  </a:txBody>
                  <a:tcPr marL="36576" marR="32004" marT="22860" marB="22860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NVIDIA Orin NX</a:t>
                      </a:r>
                    </a:p>
                  </a:txBody>
                  <a:tcPr marL="36576" marR="32004" marT="22860" marB="22860">
                    <a:solidFill>
                      <a:srgbClr val="12263F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Temp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−40…+85°C*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−30…+105°C Tj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−25…+85°C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AI TOPS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2.3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Decode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4K / multi-1080p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8K60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4K60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1080p60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4K80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4K60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Encode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1080p60 / 3×1080p30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8K30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4K60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1080p60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4K30 / 4×1080p30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4K60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ISP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480 MP/s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48 MP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Dual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375 MP/s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Spectra 570L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RAM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8 GB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32 GB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16 GB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8 GB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16 GB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16 GB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ECC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TSN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2.5Gb SGMII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TDP Typical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5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8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5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3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6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10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Supply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2036+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2033+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2038+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2036+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2036+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2033+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Power Consumption</a:t>
                      </a:r>
                    </a:p>
                  </a:txBody>
                  <a:tcPr marL="36576" marR="32004" marT="22860" marB="22860"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Typical 5 W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Peak 10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Typical 8 W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Peak 12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Typical 5 W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Peak 8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Typical 3 W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Peak 5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Typical 6 W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Peak 9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Typical 10 W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Peak 25 W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Thermal / Cooling</a:t>
                      </a:r>
                    </a:p>
                  </a:txBody>
                  <a:tcPr marL="36576" marR="32004" marT="22860" marB="22860"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 ambient;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+105°C junction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Passive: Excellent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−40…+85°C*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Passive: Good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Passive: Excellent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−40…+85°C ambient;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+105°C junction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Passive: Excellent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−30…+105°C junction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Passive: Moderate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−25…+85°C module</a:t>
                      </a:r>
                    </a:p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Passive: Poor</a:t>
                      </a:r>
                    </a:p>
                  </a:txBody>
                  <a:tcPr marL="36576" marR="32004" marT="22860" marB="22860">
                    <a:solidFill>
                      <a:srgbClr val="F1F5F8"/>
                    </a:solidFill>
                  </a:tcPr>
                </a:tc>
              </a:tr>
              <a:tr h="3820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1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OS / Linux BSP</a:t>
                      </a:r>
                    </a:p>
                  </a:txBody>
                  <a:tcPr marL="36576" marR="32004" marT="22860" marB="22860"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Yocto / Debian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Buildroot / Yocto / Debian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Yocto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Yocto / Android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Qualcomm Linux / Android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  <a:defRPr sz="700" b="0">
                          <a:solidFill>
                            <a:srgbClr val="222B34"/>
                          </a:solidFill>
                          <a:latin typeface="Aptos"/>
                        </a:defRPr>
                      </a:pPr>
                      <a:r>
                        <a:t>JetPack / Ubuntu</a:t>
                      </a:r>
                    </a:p>
                  </a:txBody>
                  <a:tcPr marL="36576" marR="32004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92608" y="6446520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i="1">
                <a:solidFill>
                  <a:srgbClr val="606E7C"/>
                </a:solidFill>
                <a:latin typeface="Aptos"/>
              </a:rPr>
              <a:t>Source: Industrial-Grade Edge AI Processor Selection Presentation, Rev. 1.0. Power/Thermal from Thermal &amp; Reliability; OS/BSP from Software Ecosystem &amp;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Real-Time Video Conferencing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Deterministic capture-to-display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5087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93392"/>
            <a:ext cx="136245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F30"/>
                </a:solidFill>
              </a:rPr>
              <a:t>CAMERA</a:t>
            </a:r>
          </a:p>
          <a:p>
            <a:pPr algn="ctr"/>
            <a:r>
              <a:rPr sz="800">
                <a:solidFill>
                  <a:srgbClr val="5C6974"/>
                </a:solidFill>
              </a:rPr>
              <a:t>MIPI-CSI</a:t>
            </a:r>
          </a:p>
        </p:txBody>
      </p:sp>
      <p:sp>
        <p:nvSpPr>
          <p:cNvPr id="9" name="Chevron 8"/>
          <p:cNvSpPr/>
          <p:nvPr/>
        </p:nvSpPr>
        <p:spPr>
          <a:xfrm>
            <a:off x="2039112" y="2176272"/>
            <a:ext cx="320040" cy="411480"/>
          </a:xfrm>
          <a:prstGeom prst="chevron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1828800"/>
            <a:ext cx="15087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20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8024" y="1993392"/>
            <a:ext cx="136245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F30"/>
                </a:solidFill>
              </a:rPr>
              <a:t>ISP</a:t>
            </a:r>
          </a:p>
          <a:p>
            <a:pPr algn="ctr"/>
            <a:r>
              <a:rPr sz="800">
                <a:solidFill>
                  <a:srgbClr val="5C6974"/>
                </a:solidFill>
              </a:rPr>
              <a:t>HDR / WDR</a:t>
            </a:r>
          </a:p>
        </p:txBody>
      </p:sp>
      <p:sp>
        <p:nvSpPr>
          <p:cNvPr id="12" name="Chevron 11"/>
          <p:cNvSpPr/>
          <p:nvPr/>
        </p:nvSpPr>
        <p:spPr>
          <a:xfrm>
            <a:off x="3941063" y="2176272"/>
            <a:ext cx="320040" cy="411480"/>
          </a:xfrm>
          <a:prstGeom prst="chevron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6824" y="1828800"/>
            <a:ext cx="15087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993392"/>
            <a:ext cx="136245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F30"/>
                </a:solidFill>
              </a:rPr>
              <a:t>ENCODE</a:t>
            </a:r>
          </a:p>
          <a:p>
            <a:pPr algn="ctr"/>
            <a:r>
              <a:rPr sz="800">
                <a:solidFill>
                  <a:srgbClr val="5C6974"/>
                </a:solidFill>
              </a:rPr>
              <a:t>H.264 / H.265</a:t>
            </a:r>
          </a:p>
        </p:txBody>
      </p:sp>
      <p:sp>
        <p:nvSpPr>
          <p:cNvPr id="15" name="Chevron 14"/>
          <p:cNvSpPr/>
          <p:nvPr/>
        </p:nvSpPr>
        <p:spPr>
          <a:xfrm>
            <a:off x="5843016" y="2176272"/>
            <a:ext cx="320040" cy="411480"/>
          </a:xfrm>
          <a:prstGeom prst="chevron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8776" y="1828800"/>
            <a:ext cx="15087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993392"/>
            <a:ext cx="136245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F30"/>
                </a:solidFill>
              </a:rPr>
              <a:t>NETWORK</a:t>
            </a:r>
          </a:p>
          <a:p>
            <a:pPr algn="ctr"/>
            <a:r>
              <a:rPr sz="800">
                <a:solidFill>
                  <a:srgbClr val="5C6974"/>
                </a:solidFill>
              </a:rPr>
              <a:t>RTP / RTSP / WebRTC</a:t>
            </a:r>
          </a:p>
        </p:txBody>
      </p:sp>
      <p:sp>
        <p:nvSpPr>
          <p:cNvPr id="18" name="Chevron 17"/>
          <p:cNvSpPr/>
          <p:nvPr/>
        </p:nvSpPr>
        <p:spPr>
          <a:xfrm>
            <a:off x="7744968" y="2176272"/>
            <a:ext cx="320040" cy="411480"/>
          </a:xfrm>
          <a:prstGeom prst="chevron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10728" y="1828800"/>
            <a:ext cx="15087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20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993392"/>
            <a:ext cx="136245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F30"/>
                </a:solidFill>
              </a:rPr>
              <a:t>DECODE</a:t>
            </a:r>
          </a:p>
          <a:p>
            <a:pPr algn="ctr"/>
            <a:r>
              <a:rPr sz="800">
                <a:solidFill>
                  <a:srgbClr val="5C6974"/>
                </a:solidFill>
              </a:rPr>
              <a:t>Hardware VPU</a:t>
            </a:r>
          </a:p>
        </p:txBody>
      </p:sp>
      <p:sp>
        <p:nvSpPr>
          <p:cNvPr id="21" name="Chevron 20"/>
          <p:cNvSpPr/>
          <p:nvPr/>
        </p:nvSpPr>
        <p:spPr>
          <a:xfrm>
            <a:off x="9646920" y="2176272"/>
            <a:ext cx="320040" cy="411480"/>
          </a:xfrm>
          <a:prstGeom prst="chevron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12680" y="1828800"/>
            <a:ext cx="150876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5832" y="1993392"/>
            <a:ext cx="136245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F30"/>
                </a:solidFill>
              </a:rPr>
              <a:t>DISPLAY</a:t>
            </a:r>
          </a:p>
          <a:p>
            <a:pPr algn="ctr"/>
            <a:r>
              <a:rPr sz="800">
                <a:solidFill>
                  <a:srgbClr val="5C6974"/>
                </a:solidFill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3832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C6974"/>
                </a:solidFill>
              </a:rPr>
              <a:t>Peer stream:  NETWORK  ←  DECODE  ←  DISPLAY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51960"/>
            <a:ext cx="219456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61688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97A7"/>
                </a:solidFill>
              </a:rPr>
              <a:t>&lt; 5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773168"/>
            <a:ext cx="1975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ISP budget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251960"/>
            <a:ext cx="219456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361688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05C96"/>
                </a:solidFill>
              </a:rPr>
              <a:t>&lt; 10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4773168"/>
            <a:ext cx="1975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Encode budget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4251960"/>
            <a:ext cx="219456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4361688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</a:rPr>
              <a:t>&lt; 50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773168"/>
            <a:ext cx="1975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Network + jitter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4251960"/>
            <a:ext cx="219456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361688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</a:rPr>
              <a:t>&lt; 10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4773168"/>
            <a:ext cx="19751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C6974"/>
                </a:solidFill>
              </a:rPr>
              <a:t>Decode + render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486400"/>
            <a:ext cx="8503920" cy="50292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5596128"/>
            <a:ext cx="8138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Target one-way interactive video latency: &lt; 150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Representative AI Inference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Indicative INT8 performance reported in the source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34440"/>
          <a:ext cx="115671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451"/>
                <a:gridCol w="1652451"/>
                <a:gridCol w="1652451"/>
                <a:gridCol w="1652451"/>
                <a:gridCol w="1652451"/>
                <a:gridCol w="1652451"/>
                <a:gridCol w="1652451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TDA4VM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RK3588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i.MX 95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i.MX 8M+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QCS6490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Orin NX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ResNet-50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~35 fps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~28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~55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~450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YOLOv5s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~45 fps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~38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~12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~14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~70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~600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YOLOv8m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~18 fps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~28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~240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MobileNet-SSD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~120 fps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~100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~35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~40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~180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~1500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MoveNet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~55 fps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~45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~18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~85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~700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343400"/>
            <a:ext cx="525780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54864" cy="1143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8970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956048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TDA4VM offers a strong industrial balance; Orin NX/QCS6490 provide much higher peak AI throughput but fail the strict −40°C requirement.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43400"/>
            <a:ext cx="5257800" cy="11430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343400"/>
            <a:ext cx="54864" cy="1143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448970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Important qualification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956048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The report states benchmarks are indicative and depend on quantisation, memory bandwidth and compiler optimisation.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Thermal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Passive-cooling feasibility and industrial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Platform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Typical TDP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Peak TDP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Passive cooling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ECC / safety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TDA4VM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5 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10 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Excellent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L3 + DRAM / ASIL-D target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RK3588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8 W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12 W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Good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No ECC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i.MX 95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5 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8 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Excellent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DRAM ECC / safety support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i.MX 8M Plus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3 W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5 W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Excellent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DRAM ECC / IEC 61508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QCS6490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6 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9 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Moderate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No ECC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Orin NX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10 W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25 W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Poor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No ECC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892040"/>
            <a:ext cx="342900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50383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Sealed enclosure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5504688"/>
            <a:ext cx="3063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Passive cooling is preferred for industrial deployments.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892040"/>
            <a:ext cx="342900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892040"/>
            <a:ext cx="54864" cy="9144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50383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5504688"/>
            <a:ext cx="3063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ECC becomes important for safety-oriented designs.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892040"/>
            <a:ext cx="342900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4892040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503834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Thermal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5504688"/>
            <a:ext cx="3063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Orin NX may require active cooling or a large heatsink.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Software Ecosystem &amp;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C/C++, Linux, RTOS and edge-AI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842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5421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Platform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Linux BSP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RTOS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AI stack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Video / vision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TDA4VM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Yocto / Debian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FreeRTOS / SafeRTOS / QNX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TIDL, TFLite, ONNX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GStreamer, V4L2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RK3588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Buildroot / Yocto / Debian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RKNN, TFLite, ONNX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MPP, GStreamer, V4L2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i.MX 95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Yocto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FreeRTOS / Zephyr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eIQ, TFLite, ONNX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V4L2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i.MX 8M+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Yocto / Android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FreeRTOS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eIQ, TFLite, ONNX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V4L2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QCS6490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Qualcomm Linux / Android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QNN, SNPE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QMMF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Orin NX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JetPack / Ubuntu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TensorRT, TFLite, ONNX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V4L2 / GStreamer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303520"/>
            <a:ext cx="5257800" cy="658368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303520"/>
            <a:ext cx="54864" cy="65836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54498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F30"/>
                </a:solidFill>
              </a:rPr>
              <a:t>Best deterministic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5916168"/>
            <a:ext cx="48920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TDA4VM: Linux AV pipeline + dedicated R5F RTOS control plane.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303520"/>
            <a:ext cx="5257800" cy="658368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5303520"/>
            <a:ext cx="54864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5449824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F30"/>
                </a:solidFill>
              </a:rPr>
              <a:t>Best AI developer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916168"/>
            <a:ext cx="489204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C6974"/>
                </a:solidFill>
              </a:rPr>
              <a:t>Orin NX: CUDA + TensorRT, subject to environmental constraints.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Recommendations by Application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Match platform to the system-level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261872"/>
            <a:ext cx="438912" cy="438912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188720"/>
            <a:ext cx="365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Safety-critical industrial vision + conferencing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97A7"/>
                </a:solidFill>
              </a:rPr>
              <a:t>TDA4VM / AM68A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18872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Safety, deterministic control, harsh temperature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221992"/>
            <a:ext cx="438912" cy="438912"/>
          </a:xfrm>
          <a:prstGeom prst="ellipse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48840"/>
            <a:ext cx="365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Multi-channel AI video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4884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05C96"/>
                </a:solidFill>
              </a:rPr>
              <a:t>RK3588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8K codec bandwidth + 6 TOPS NPU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182112"/>
            <a:ext cx="438912" cy="43891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108960"/>
            <a:ext cx="365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Long-life industrial HMI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10896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D32"/>
                </a:solidFill>
              </a:rPr>
              <a:t>i.MX 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10896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2038+ supply + TSN + moderate AI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142232"/>
            <a:ext cx="438912" cy="43891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69080"/>
            <a:ext cx="365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Cost-sensitive smart camera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06908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67E22"/>
                </a:solidFill>
              </a:rPr>
              <a:t>i.MX 8M Plus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06908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Low power + 1080p60 + proven industrial platform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102352"/>
            <a:ext cx="438912" cy="43891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66360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365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F30"/>
                </a:solidFill>
              </a:rPr>
              <a:t>High-performance non-critical robotics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502920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</a:rPr>
              <a:t>QCS6490 / Orin NX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02920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Extreme AI throughput; relaxed temperature requirement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Procurement &amp; Supply-Chain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Lifecycle, availability and lead-time perspective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Vendor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Longevity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Industrial module availability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Lead-time risk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Texas Instruments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2036+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Rockchip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2033+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NXP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2036–2038+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Very High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Qualcomm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2036+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NVIDIA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2033+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Low–Medium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297680"/>
            <a:ext cx="3429000" cy="12801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44398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Certification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91032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For IEC 61508 / ISO 26262 or 10+ year supply locks, the report prioritises NXP and 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97680"/>
            <a:ext cx="3429000" cy="12801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297680"/>
            <a:ext cx="54864" cy="1280160"/>
          </a:xfrm>
          <a:prstGeom prst="rect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444398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Cost /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91032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RK3588 offers strong performance-per-dollar but may need additional environmental qualification.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97680"/>
            <a:ext cx="3429000" cy="12801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297680"/>
            <a:ext cx="54864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443984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Procurement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91032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Validate exact SoM, carrier, temperature grade and supplier lifecycle—not just SoC family.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F30"/>
                </a:solidFill>
                <a:latin typeface="Aptos Display"/>
              </a:rPr>
              <a:t>Final Decision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974"/>
                </a:solidFill>
                <a:latin typeface="Aptos"/>
              </a:rPr>
              <a:t>System-level selection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356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05C96"/>
                </a:solidFill>
                <a:latin typeface="Aptos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842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Platform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strength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constraint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54864" marR="36576" marT="27432" marB="27432">
                    <a:solidFill>
                      <a:srgbClr val="0F1F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TI TDA4VM / AM68A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Best overall industrial balance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Lower peak AI than Orin NX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RECOMMENDED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Rockchip RK3588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Best codec + cost efficiency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Safety ecosystem qualification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RECOMMENDED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NXP i.MX 95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Long-life + TSN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2 TOPS AI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RECOMMENDED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NXP i.MX 8M Plus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Low-power 1080p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Limited to 1080p-class AV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RECOMMENDED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Qualcomm QCS6490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12 TOPS + 4K AV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−30°C minimum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CONDITIONAL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NVIDIA Orin NX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100 TOPS + CUDA/TensorRT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−25°C minimum, higher TDP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91919"/>
                          </a:solidFill>
                          <a:latin typeface="Aptos"/>
                        </a:defRPr>
                      </a:pPr>
                      <a:r>
                        <a:t>CONDITIONAL</a:t>
                      </a:r>
                    </a:p>
                  </a:txBody>
                  <a:tcPr marL="54864" marR="36576" marT="27432" marB="27432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074920"/>
            <a:ext cx="10789920" cy="8229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074920"/>
            <a:ext cx="54864" cy="8229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221224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F30"/>
                </a:solidFill>
              </a:rPr>
              <a:t>Selection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687568"/>
            <a:ext cx="104241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6974"/>
                </a:solidFill>
              </a:rPr>
              <a:t>If −40°C operation, deterministic RTOS control and industrial safety are mandatory, TDA4VM / AM68A is the report's primary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C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974"/>
                </a:solidFill>
              </a:rPr>
              <a:t>Technical Evaluation • Internal Use • Revision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974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Conclusion &amp; Recommended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246120" cy="2377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4864" cy="23774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7510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F30"/>
                </a:solidFill>
              </a:rPr>
              <a:t>01  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41448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74"/>
                </a:solidFill>
              </a:rPr>
              <a:t>TI TDA4VM / AM68A
Best balance of AI, AV, safety, deterministic control and industrial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2377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54864" cy="2377440"/>
          </a:xfrm>
          <a:prstGeom prst="rect">
            <a:avLst/>
          </a:prstGeom>
          <a:solidFill>
            <a:srgbClr val="20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97510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F30"/>
                </a:solidFill>
              </a:rPr>
              <a:t>02  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41448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74"/>
                </a:solidFill>
              </a:rPr>
              <a:t>Rockchip RK3588
Preferred when 8K multimedia bandwidth and cost efficiency dominate.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46120" cy="2377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828800"/>
            <a:ext cx="54864" cy="2377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97510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F30"/>
                </a:solidFill>
              </a:rPr>
              <a:t>03  CONDITIONAL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441448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74"/>
                </a:solidFill>
              </a:rPr>
              <a:t>QCS6490 / Orin NX
Use for extreme AI performance only when temperature constraints are relaxed.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9966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D2E1EB"/>
                </a:solidFill>
              </a:rPr>
              <a:t>Recommended next step: prototype the selected industrial SoM with the target camera, AI model, codec pipeline and thermal enclosure before design freeze.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0644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A0B4C3"/>
                </a:solidFill>
              </a:rPr>
              <a:t>Source basis: Industrial-Grade Edge AI Processor Selection Report • Rev 1.0 • 13 Aug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Industrial-Grade Edge AI Processor Selection</dc:title>
  <dc:subject>Technical selection presentation based on the supplied Industrial-Grade Edge AI Processor Selection Report</dc:subject>
  <dc:creator>Technical Evaluation</dc:creator>
  <cp:keywords>Edge AI, TDA4VM, AM68A, RK3588, i.MX 95, i.MX 8M Plus, QCS6490, Jetson Orin NX, video conferencing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